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1F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548640"/>
            <a:ext cx="1578049" cy="12801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0116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3200">
                <a:solidFill>
                  <a:srgbClr val="FFFFFF"/>
                </a:solidFill>
              </a:rPr>
              <a:t>PROPOSTA DE CARTEIRA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1089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800">
                <a:solidFill>
                  <a:srgbClr val="CCDDEE"/>
                </a:solidFill>
              </a:rPr>
              <a:t>GUILHERME BARROS BARRETO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AABBCC"/>
                </a:solidFill>
              </a:rPr>
              <a:t>Perfil: Balanceado   |   Valor: R$ 10.000.000   |   02/07/2026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600">
                <a:solidFill>
                  <a:srgbClr val="231F20"/>
                </a:solidFill>
              </a:rPr>
              <a:t>ALOCAÇÃO POR CLASSE DE ATIVO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4114800" cy="320040"/>
          </a:xfrm>
          <a:prstGeom prst="rect">
            <a:avLst/>
          </a:prstGeom>
          <a:solidFill>
            <a:srgbClr val="1D7490"/>
          </a:solidFill>
        </p:spPr>
        <p:txBody>
          <a:bodyPr wrap="none">
            <a:spAutoFit/>
          </a:bodyPr>
          <a:lstStyle/>
          <a:p>
            <a:pPr algn="l"/>
            <a:r>
              <a:rPr b="1" sz="1100">
                <a:solidFill>
                  <a:srgbClr val="FFFFFF"/>
                </a:solidFill>
              </a:rPr>
              <a:t>Classe de Ativo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914400"/>
            <a:ext cx="1371600" cy="320040"/>
          </a:xfrm>
          <a:prstGeom prst="rect">
            <a:avLst/>
          </a:prstGeom>
          <a:solidFill>
            <a:srgbClr val="1D7490"/>
          </a:solidFill>
        </p:spPr>
        <p:txBody>
          <a:bodyPr wrap="none">
            <a:spAutoFit/>
          </a:bodyPr>
          <a:lstStyle/>
          <a:p>
            <a:pPr algn="ctr"/>
            <a:r>
              <a:rPr b="1" sz="1100">
                <a:solidFill>
                  <a:srgbClr val="FFFFFF"/>
                </a:solidFill>
              </a:rPr>
              <a:t>% Carteira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914400"/>
            <a:ext cx="1828800" cy="320040"/>
          </a:xfrm>
          <a:prstGeom prst="rect">
            <a:avLst/>
          </a:prstGeom>
          <a:solidFill>
            <a:srgbClr val="1D7490"/>
          </a:solidFill>
        </p:spPr>
        <p:txBody>
          <a:bodyPr wrap="none">
            <a:spAutoFit/>
          </a:bodyPr>
          <a:lstStyle/>
          <a:p>
            <a:pPr algn="ctr"/>
            <a:r>
              <a:rPr b="1" sz="1100">
                <a:solidFill>
                  <a:srgbClr val="FFFFFF"/>
                </a:solidFill>
              </a:rPr>
              <a:t>Valor (R$)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4114800" cy="320040"/>
          </a:xfrm>
          <a:prstGeom prst="rect">
            <a:avLst/>
          </a:prstGeom>
          <a:solidFill>
            <a:srgbClr val="F8F8F6"/>
          </a:solidFill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222222"/>
                </a:solidFill>
              </a:rPr>
              <a:t>Caixa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280160"/>
            <a:ext cx="1371600" cy="320040"/>
          </a:xfrm>
          <a:prstGeom prst="rect">
            <a:avLst/>
          </a:prstGeom>
          <a:solidFill>
            <a:srgbClr val="F8F8F6"/>
          </a:solidFill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222222"/>
                </a:solidFill>
              </a:rPr>
              <a:t>5.0%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280160"/>
            <a:ext cx="1828800" cy="320040"/>
          </a:xfrm>
          <a:prstGeom prst="rect">
            <a:avLst/>
          </a:prstGeom>
          <a:solidFill>
            <a:srgbClr val="F8F8F6"/>
          </a:solidFill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222222"/>
                </a:solidFill>
              </a:rPr>
              <a:t>R$ 500.000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18488"/>
            <a:ext cx="4114800" cy="320040"/>
          </a:xfrm>
          <a:prstGeom prst="rect">
            <a:avLst/>
          </a:prstGeom>
          <a:solidFill>
            <a:srgbClr val="F8F8F6"/>
          </a:solidFill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222222"/>
                </a:solidFill>
              </a:rPr>
              <a:t>Crédito Estruturado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618488"/>
            <a:ext cx="1371600" cy="320040"/>
          </a:xfrm>
          <a:prstGeom prst="rect">
            <a:avLst/>
          </a:prstGeom>
          <a:solidFill>
            <a:srgbClr val="F8F8F6"/>
          </a:solidFill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222222"/>
                </a:solidFill>
              </a:rPr>
              <a:t>35.0%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618488"/>
            <a:ext cx="1828800" cy="320040"/>
          </a:xfrm>
          <a:prstGeom prst="rect">
            <a:avLst/>
          </a:prstGeom>
          <a:solidFill>
            <a:srgbClr val="F8F8F6"/>
          </a:solidFill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222222"/>
                </a:solidFill>
              </a:rPr>
              <a:t>R$ 3.500.000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956816"/>
            <a:ext cx="4114800" cy="320040"/>
          </a:xfrm>
          <a:prstGeom prst="rect">
            <a:avLst/>
          </a:prstGeom>
          <a:solidFill>
            <a:srgbClr val="FFFFFF"/>
          </a:solidFill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222222"/>
                </a:solidFill>
              </a:rPr>
              <a:t>Renda Fixa Inflação/Pré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1956816"/>
            <a:ext cx="1371600" cy="320040"/>
          </a:xfrm>
          <a:prstGeom prst="rect">
            <a:avLst/>
          </a:prstGeom>
          <a:solidFill>
            <a:srgbClr val="FFFFFF"/>
          </a:solidFill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222222"/>
                </a:solidFill>
              </a:rPr>
              <a:t>17.5%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1956816"/>
            <a:ext cx="1828800" cy="320040"/>
          </a:xfrm>
          <a:prstGeom prst="rect">
            <a:avLst/>
          </a:prstGeom>
          <a:solidFill>
            <a:srgbClr val="FFFFFF"/>
          </a:solidFill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222222"/>
                </a:solidFill>
              </a:rPr>
              <a:t>R$ 1.750.000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295144"/>
            <a:ext cx="4114800" cy="320040"/>
          </a:xfrm>
          <a:prstGeom prst="rect">
            <a:avLst/>
          </a:prstGeom>
          <a:solidFill>
            <a:srgbClr val="F8F8F6"/>
          </a:solidFill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222222"/>
                </a:solidFill>
              </a:rPr>
              <a:t>Multimercado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2295144"/>
            <a:ext cx="1371600" cy="320040"/>
          </a:xfrm>
          <a:prstGeom prst="rect">
            <a:avLst/>
          </a:prstGeom>
          <a:solidFill>
            <a:srgbClr val="F8F8F6"/>
          </a:solidFill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222222"/>
                </a:solidFill>
              </a:rPr>
              <a:t>17.5%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295144"/>
            <a:ext cx="1828800" cy="320040"/>
          </a:xfrm>
          <a:prstGeom prst="rect">
            <a:avLst/>
          </a:prstGeom>
          <a:solidFill>
            <a:srgbClr val="F8F8F6"/>
          </a:solidFill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222222"/>
                </a:solidFill>
              </a:rPr>
              <a:t>R$ 1.750.000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633472"/>
            <a:ext cx="4114800" cy="320040"/>
          </a:xfrm>
          <a:prstGeom prst="rect">
            <a:avLst/>
          </a:prstGeom>
          <a:solidFill>
            <a:srgbClr val="F8F8F6"/>
          </a:solidFill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222222"/>
                </a:solidFill>
              </a:rPr>
              <a:t>Offshore BRL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2633472"/>
            <a:ext cx="1371600" cy="320040"/>
          </a:xfrm>
          <a:prstGeom prst="rect">
            <a:avLst/>
          </a:prstGeom>
          <a:solidFill>
            <a:srgbClr val="F8F8F6"/>
          </a:solidFill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222222"/>
                </a:solidFill>
              </a:rPr>
              <a:t>5.0%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2633472"/>
            <a:ext cx="1828800" cy="320040"/>
          </a:xfrm>
          <a:prstGeom prst="rect">
            <a:avLst/>
          </a:prstGeom>
          <a:solidFill>
            <a:srgbClr val="F8F8F6"/>
          </a:solidFill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222222"/>
                </a:solidFill>
              </a:rPr>
              <a:t>R$ 500.000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2971800"/>
            <a:ext cx="4114800" cy="320040"/>
          </a:xfrm>
          <a:prstGeom prst="rect">
            <a:avLst/>
          </a:prstGeom>
          <a:solidFill>
            <a:srgbClr val="FFFFFF"/>
          </a:solidFill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222222"/>
                </a:solidFill>
              </a:rPr>
              <a:t>Renda Variável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2971800"/>
            <a:ext cx="1371600" cy="320040"/>
          </a:xfrm>
          <a:prstGeom prst="rect">
            <a:avLst/>
          </a:prstGeom>
          <a:solidFill>
            <a:srgbClr val="FFFFFF"/>
          </a:solidFill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222222"/>
                </a:solidFill>
              </a:rPr>
              <a:t>15.0%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2971800"/>
            <a:ext cx="1828800" cy="320040"/>
          </a:xfrm>
          <a:prstGeom prst="rect">
            <a:avLst/>
          </a:prstGeom>
          <a:solidFill>
            <a:srgbClr val="FFFFFF"/>
          </a:solidFill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222222"/>
                </a:solidFill>
              </a:rPr>
              <a:t>R$ 1.500.000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310128"/>
            <a:ext cx="4114800" cy="320040"/>
          </a:xfrm>
          <a:prstGeom prst="rect">
            <a:avLst/>
          </a:prstGeom>
          <a:solidFill>
            <a:srgbClr val="F8F8F6"/>
          </a:solidFill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222222"/>
                </a:solidFill>
              </a:rPr>
              <a:t>Imobiliários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0" y="3310128"/>
            <a:ext cx="1371600" cy="320040"/>
          </a:xfrm>
          <a:prstGeom prst="rect">
            <a:avLst/>
          </a:prstGeom>
          <a:solidFill>
            <a:srgbClr val="F8F8F6"/>
          </a:solidFill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222222"/>
                </a:solidFill>
              </a:rPr>
              <a:t>2.5%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3310128"/>
            <a:ext cx="1828800" cy="320040"/>
          </a:xfrm>
          <a:prstGeom prst="rect">
            <a:avLst/>
          </a:prstGeom>
          <a:solidFill>
            <a:srgbClr val="F8F8F6"/>
          </a:solidFill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222222"/>
                </a:solidFill>
              </a:rPr>
              <a:t>R$ 250.000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3648456"/>
            <a:ext cx="3200400" cy="320040"/>
          </a:xfrm>
          <a:prstGeom prst="rect">
            <a:avLst/>
          </a:prstGeom>
          <a:solidFill>
            <a:srgbClr val="1D7490"/>
          </a:solidFill>
        </p:spPr>
        <p:txBody>
          <a:bodyPr wrap="none">
            <a:spAutoFit/>
          </a:bodyPr>
          <a:lstStyle/>
          <a:p>
            <a:r>
              <a:rPr b="1" sz="1100">
                <a:solidFill>
                  <a:srgbClr val="FFFFFF"/>
                </a:solidFill>
              </a:rPr>
              <a:t>TOTAL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0" y="3648456"/>
            <a:ext cx="1371600" cy="320040"/>
          </a:xfrm>
          <a:prstGeom prst="rect">
            <a:avLst/>
          </a:prstGeom>
          <a:solidFill>
            <a:srgbClr val="1D7490"/>
          </a:solidFill>
        </p:spPr>
        <p:txBody>
          <a:bodyPr wrap="none">
            <a:spAutoFit/>
          </a:bodyPr>
          <a:lstStyle/>
          <a:p>
            <a:pPr algn="ctr"/>
            <a:r>
              <a:rPr b="1" sz="1100">
                <a:solidFill>
                  <a:srgbClr val="FFFFFF"/>
                </a:solidFill>
              </a:rPr>
              <a:t>100,0%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600">
                <a:solidFill>
                  <a:srgbClr val="231F20"/>
                </a:solidFill>
              </a:rPr>
              <a:t>FUNDOS DA CARTEIRA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14400"/>
            <a:ext cx="3657600" cy="274320"/>
          </a:xfrm>
          <a:prstGeom prst="rect">
            <a:avLst/>
          </a:prstGeom>
          <a:solidFill>
            <a:srgbClr val="1D7490"/>
          </a:solidFill>
        </p:spPr>
        <p:txBody>
          <a:bodyPr wrap="none">
            <a:spAutoFit/>
          </a:bodyPr>
          <a:lstStyle/>
          <a:p>
            <a:pPr algn="l"/>
            <a:r>
              <a:rPr b="1" sz="900">
                <a:solidFill>
                  <a:srgbClr val="FFFFFF"/>
                </a:solidFill>
              </a:rPr>
              <a:t>Fundo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50207" y="914400"/>
            <a:ext cx="1645920" cy="274320"/>
          </a:xfrm>
          <a:prstGeom prst="rect">
            <a:avLst/>
          </a:prstGeom>
          <a:solidFill>
            <a:srgbClr val="1D7490"/>
          </a:solidFill>
        </p:spPr>
        <p:txBody>
          <a:bodyPr wrap="none">
            <a:spAutoFit/>
          </a:bodyPr>
          <a:lstStyle/>
          <a:p>
            <a:pPr algn="ctr"/>
            <a:r>
              <a:rPr b="1" sz="900">
                <a:solidFill>
                  <a:srgbClr val="FFFFFF"/>
                </a:solidFill>
              </a:rPr>
              <a:t>Classe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14415" y="914400"/>
            <a:ext cx="822960" cy="274320"/>
          </a:xfrm>
          <a:prstGeom prst="rect">
            <a:avLst/>
          </a:prstGeom>
          <a:solidFill>
            <a:srgbClr val="1D7490"/>
          </a:solidFill>
        </p:spPr>
        <p:txBody>
          <a:bodyPr wrap="none">
            <a:spAutoFit/>
          </a:bodyPr>
          <a:lstStyle/>
          <a:p>
            <a:pPr algn="ctr"/>
            <a:r>
              <a:rPr b="1" sz="900">
                <a:solidFill>
                  <a:srgbClr val="FFFFFF"/>
                </a:solidFill>
              </a:rPr>
              <a:t>% Total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55663" y="914400"/>
            <a:ext cx="1188720" cy="274320"/>
          </a:xfrm>
          <a:prstGeom prst="rect">
            <a:avLst/>
          </a:prstGeom>
          <a:solidFill>
            <a:srgbClr val="1D7490"/>
          </a:solidFill>
        </p:spPr>
        <p:txBody>
          <a:bodyPr wrap="none">
            <a:spAutoFit/>
          </a:bodyPr>
          <a:lstStyle/>
          <a:p>
            <a:pPr algn="ctr"/>
            <a:r>
              <a:rPr b="1" sz="900">
                <a:solidFill>
                  <a:srgbClr val="FFFFFF"/>
                </a:solidFill>
              </a:rPr>
              <a:t>Valor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62671" y="914400"/>
            <a:ext cx="731520" cy="274320"/>
          </a:xfrm>
          <a:prstGeom prst="rect">
            <a:avLst/>
          </a:prstGeom>
          <a:solidFill>
            <a:srgbClr val="1D7490"/>
          </a:solidFill>
        </p:spPr>
        <p:txBody>
          <a:bodyPr wrap="none">
            <a:spAutoFit/>
          </a:bodyPr>
          <a:lstStyle/>
          <a:p>
            <a:pPr algn="ctr"/>
            <a:r>
              <a:rPr b="1" sz="900">
                <a:solidFill>
                  <a:srgbClr val="FFFFFF"/>
                </a:solidFill>
              </a:rPr>
              <a:t>Ret 6m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914400"/>
            <a:ext cx="777240" cy="274320"/>
          </a:xfrm>
          <a:prstGeom prst="rect">
            <a:avLst/>
          </a:prstGeom>
          <a:solidFill>
            <a:srgbClr val="1D7490"/>
          </a:solidFill>
        </p:spPr>
        <p:txBody>
          <a:bodyPr wrap="none">
            <a:spAutoFit/>
          </a:bodyPr>
          <a:lstStyle/>
          <a:p>
            <a:pPr algn="ctr"/>
            <a:r>
              <a:rPr b="1" sz="900">
                <a:solidFill>
                  <a:srgbClr val="FFFFFF"/>
                </a:solidFill>
              </a:rPr>
              <a:t>Ret 12m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08007" y="914400"/>
            <a:ext cx="777240" cy="274320"/>
          </a:xfrm>
          <a:prstGeom prst="rect">
            <a:avLst/>
          </a:prstGeom>
          <a:solidFill>
            <a:srgbClr val="1D7490"/>
          </a:solidFill>
        </p:spPr>
        <p:txBody>
          <a:bodyPr wrap="none">
            <a:spAutoFit/>
          </a:bodyPr>
          <a:lstStyle/>
          <a:p>
            <a:pPr algn="ctr"/>
            <a:r>
              <a:rPr b="1" sz="900">
                <a:solidFill>
                  <a:srgbClr val="FFFFFF"/>
                </a:solidFill>
              </a:rPr>
              <a:t>Ret 24m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3535" y="914400"/>
            <a:ext cx="731520" cy="274320"/>
          </a:xfrm>
          <a:prstGeom prst="rect">
            <a:avLst/>
          </a:prstGeom>
          <a:solidFill>
            <a:srgbClr val="1D7490"/>
          </a:solidFill>
        </p:spPr>
        <p:txBody>
          <a:bodyPr wrap="none">
            <a:spAutoFit/>
          </a:bodyPr>
          <a:lstStyle/>
          <a:p>
            <a:pPr algn="ctr"/>
            <a:r>
              <a:rPr b="1" sz="900">
                <a:solidFill>
                  <a:srgbClr val="FFFFFF"/>
                </a:solidFill>
              </a:rPr>
              <a:t>YTD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53343" y="914400"/>
            <a:ext cx="777240" cy="274320"/>
          </a:xfrm>
          <a:prstGeom prst="rect">
            <a:avLst/>
          </a:prstGeom>
          <a:solidFill>
            <a:srgbClr val="1D7490"/>
          </a:solidFill>
        </p:spPr>
        <p:txBody>
          <a:bodyPr wrap="none">
            <a:spAutoFit/>
          </a:bodyPr>
          <a:lstStyle/>
          <a:p>
            <a:pPr algn="ctr"/>
            <a:r>
              <a:rPr b="1" sz="900">
                <a:solidFill>
                  <a:srgbClr val="FFFFFF"/>
                </a:solidFill>
              </a:rPr>
              <a:t>Vol 12m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1207008"/>
            <a:ext cx="3657600" cy="292608"/>
          </a:xfrm>
          <a:prstGeom prst="rect">
            <a:avLst/>
          </a:prstGeom>
          <a:solidFill>
            <a:srgbClr val="F5F5F2"/>
          </a:solidFill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222222"/>
                </a:solidFill>
              </a:rPr>
              <a:t>BTG PACTUAL DIGITAL TESOURO SELIC FIF RENDA FIXA SIM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207" y="1207008"/>
            <a:ext cx="1645920" cy="292608"/>
          </a:xfrm>
          <a:prstGeom prst="rect">
            <a:avLst/>
          </a:prstGeom>
          <a:solidFill>
            <a:srgbClr val="F5F5F2"/>
          </a:solidFill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222222"/>
                </a:solidFill>
              </a:rPr>
              <a:t>Caixa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14415" y="1207008"/>
            <a:ext cx="822960" cy="292608"/>
          </a:xfrm>
          <a:prstGeom prst="rect">
            <a:avLst/>
          </a:prstGeom>
          <a:solidFill>
            <a:srgbClr val="F5F5F2"/>
          </a:solidFill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222222"/>
                </a:solidFill>
              </a:rPr>
              <a:t>5.0%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55663" y="1207008"/>
            <a:ext cx="1188720" cy="292608"/>
          </a:xfrm>
          <a:prstGeom prst="rect">
            <a:avLst/>
          </a:prstGeom>
          <a:solidFill>
            <a:srgbClr val="F5F5F2"/>
          </a:solidFill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222222"/>
                </a:solidFill>
              </a:rPr>
              <a:t>R$ 500.000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62671" y="1207008"/>
            <a:ext cx="731520" cy="292608"/>
          </a:xfrm>
          <a:prstGeom prst="rect">
            <a:avLst/>
          </a:prstGeom>
          <a:solidFill>
            <a:srgbClr val="F5F5F2"/>
          </a:solidFill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222222"/>
                </a:solidFill>
              </a:rPr>
              <a:t>6.9%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1207008"/>
            <a:ext cx="777240" cy="292608"/>
          </a:xfrm>
          <a:prstGeom prst="rect">
            <a:avLst/>
          </a:prstGeom>
          <a:solidFill>
            <a:srgbClr val="F5F5F2"/>
          </a:solidFill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222222"/>
                </a:solidFill>
              </a:rPr>
              <a:t>14.8%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08007" y="1207008"/>
            <a:ext cx="777240" cy="292608"/>
          </a:xfrm>
          <a:prstGeom prst="rect">
            <a:avLst/>
          </a:prstGeom>
          <a:solidFill>
            <a:srgbClr val="F5F5F2"/>
          </a:solidFill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222222"/>
                </a:solidFill>
              </a:rPr>
              <a:t>28.8%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03535" y="1207008"/>
            <a:ext cx="731520" cy="292608"/>
          </a:xfrm>
          <a:prstGeom prst="rect">
            <a:avLst/>
          </a:prstGeom>
          <a:solidFill>
            <a:srgbClr val="F5F5F2"/>
          </a:solidFill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222222"/>
                </a:solidFill>
              </a:rPr>
              <a:t>6.8%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53343" y="1207008"/>
            <a:ext cx="777240" cy="292608"/>
          </a:xfrm>
          <a:prstGeom prst="rect">
            <a:avLst/>
          </a:prstGeom>
          <a:solidFill>
            <a:srgbClr val="F5F5F2"/>
          </a:solidFill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222222"/>
                </a:solidFill>
              </a:rPr>
              <a:t>0.0%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1508760"/>
            <a:ext cx="3657600" cy="292608"/>
          </a:xfrm>
          <a:prstGeom prst="rect">
            <a:avLst/>
          </a:prstGeom>
          <a:solidFill>
            <a:srgbClr val="F5F5F2"/>
          </a:solidFill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222222"/>
                </a:solidFill>
              </a:rPr>
              <a:t>MCA II RESP LIMITADA FICFIDC 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50207" y="1508760"/>
            <a:ext cx="1645920" cy="292608"/>
          </a:xfrm>
          <a:prstGeom prst="rect">
            <a:avLst/>
          </a:prstGeom>
          <a:solidFill>
            <a:srgbClr val="F5F5F2"/>
          </a:solidFill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222222"/>
                </a:solidFill>
              </a:rPr>
              <a:t>Crédito Estruturado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14415" y="1508760"/>
            <a:ext cx="822960" cy="292608"/>
          </a:xfrm>
          <a:prstGeom prst="rect">
            <a:avLst/>
          </a:prstGeom>
          <a:solidFill>
            <a:srgbClr val="F5F5F2"/>
          </a:solidFill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222222"/>
                </a:solidFill>
              </a:rPr>
              <a:t>12.0%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3" y="1508760"/>
            <a:ext cx="1188720" cy="292608"/>
          </a:xfrm>
          <a:prstGeom prst="rect">
            <a:avLst/>
          </a:prstGeom>
          <a:solidFill>
            <a:srgbClr val="F5F5F2"/>
          </a:solidFill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222222"/>
                </a:solidFill>
              </a:rPr>
              <a:t>R$ 1.200.000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62671" y="1508760"/>
            <a:ext cx="731520" cy="292608"/>
          </a:xfrm>
          <a:prstGeom prst="rect">
            <a:avLst/>
          </a:prstGeom>
          <a:solidFill>
            <a:srgbClr val="F5F5F2"/>
          </a:solidFill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222222"/>
                </a:solidFill>
              </a:rPr>
              <a:t>8.0%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1508760"/>
            <a:ext cx="777240" cy="292608"/>
          </a:xfrm>
          <a:prstGeom prst="rect">
            <a:avLst/>
          </a:prstGeom>
          <a:solidFill>
            <a:srgbClr val="F5F5F2"/>
          </a:solidFill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222222"/>
                </a:solidFill>
              </a:rPr>
              <a:t>17.1%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08007" y="1508760"/>
            <a:ext cx="777240" cy="292608"/>
          </a:xfrm>
          <a:prstGeom prst="rect">
            <a:avLst/>
          </a:prstGeom>
          <a:solidFill>
            <a:srgbClr val="F5F5F2"/>
          </a:solidFill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222222"/>
                </a:solidFill>
              </a:rPr>
              <a:t>34.2%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03535" y="1508760"/>
            <a:ext cx="731520" cy="292608"/>
          </a:xfrm>
          <a:prstGeom prst="rect">
            <a:avLst/>
          </a:prstGeom>
          <a:solidFill>
            <a:srgbClr val="F5F5F2"/>
          </a:solidFill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222222"/>
                </a:solidFill>
              </a:rPr>
              <a:t>7.9%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53343" y="1508760"/>
            <a:ext cx="777240" cy="292608"/>
          </a:xfrm>
          <a:prstGeom prst="rect">
            <a:avLst/>
          </a:prstGeom>
          <a:solidFill>
            <a:srgbClr val="F5F5F2"/>
          </a:solidFill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222222"/>
                </a:solidFill>
              </a:rPr>
              <a:t>0.1%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" y="1810512"/>
            <a:ext cx="3657600" cy="292608"/>
          </a:xfrm>
          <a:prstGeom prst="rect">
            <a:avLst/>
          </a:prstGeom>
          <a:solidFill>
            <a:srgbClr val="F5F5F2"/>
          </a:solidFill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222222"/>
                </a:solidFill>
              </a:rPr>
              <a:t>MHX FICFIDC 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50207" y="1810512"/>
            <a:ext cx="1645920" cy="292608"/>
          </a:xfrm>
          <a:prstGeom prst="rect">
            <a:avLst/>
          </a:prstGeom>
          <a:solidFill>
            <a:srgbClr val="F5F5F2"/>
          </a:solidFill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222222"/>
                </a:solidFill>
              </a:rPr>
              <a:t>Crédito Estruturado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14415" y="1810512"/>
            <a:ext cx="822960" cy="292608"/>
          </a:xfrm>
          <a:prstGeom prst="rect">
            <a:avLst/>
          </a:prstGeom>
          <a:solidFill>
            <a:srgbClr val="F5F5F2"/>
          </a:solidFill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222222"/>
                </a:solidFill>
              </a:rPr>
              <a:t>8.0%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55663" y="1810512"/>
            <a:ext cx="1188720" cy="292608"/>
          </a:xfrm>
          <a:prstGeom prst="rect">
            <a:avLst/>
          </a:prstGeom>
          <a:solidFill>
            <a:srgbClr val="F5F5F2"/>
          </a:solidFill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222222"/>
                </a:solidFill>
              </a:rPr>
              <a:t>R$ 800.000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62671" y="1810512"/>
            <a:ext cx="731520" cy="292608"/>
          </a:xfrm>
          <a:prstGeom prst="rect">
            <a:avLst/>
          </a:prstGeom>
          <a:solidFill>
            <a:srgbClr val="F5F5F2"/>
          </a:solidFill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222222"/>
                </a:solidFill>
              </a:rPr>
              <a:t>8.4%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1810512"/>
            <a:ext cx="777240" cy="292608"/>
          </a:xfrm>
          <a:prstGeom prst="rect">
            <a:avLst/>
          </a:prstGeom>
          <a:solidFill>
            <a:srgbClr val="F5F5F2"/>
          </a:solidFill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222222"/>
                </a:solidFill>
              </a:rPr>
              <a:t>18.1%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08007" y="1810512"/>
            <a:ext cx="777240" cy="292608"/>
          </a:xfrm>
          <a:prstGeom prst="rect">
            <a:avLst/>
          </a:prstGeom>
          <a:solidFill>
            <a:srgbClr val="F5F5F2"/>
          </a:solidFill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222222"/>
                </a:solidFill>
              </a:rPr>
              <a:t>36.2%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03535" y="1810512"/>
            <a:ext cx="731520" cy="292608"/>
          </a:xfrm>
          <a:prstGeom prst="rect">
            <a:avLst/>
          </a:prstGeom>
          <a:solidFill>
            <a:srgbClr val="F5F5F2"/>
          </a:solidFill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222222"/>
                </a:solidFill>
              </a:rPr>
              <a:t>8.3%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53343" y="1810512"/>
            <a:ext cx="777240" cy="292608"/>
          </a:xfrm>
          <a:prstGeom prst="rect">
            <a:avLst/>
          </a:prstGeom>
          <a:solidFill>
            <a:srgbClr val="F5F5F2"/>
          </a:solidFill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222222"/>
                </a:solidFill>
              </a:rPr>
              <a:t>0.1%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4320" y="2112264"/>
            <a:ext cx="3657600" cy="292608"/>
          </a:xfrm>
          <a:prstGeom prst="rect">
            <a:avLst/>
          </a:prstGeom>
          <a:solidFill>
            <a:srgbClr val="F5F5F2"/>
          </a:solidFill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222222"/>
                </a:solidFill>
              </a:rPr>
              <a:t>MORE CRÉDITO RESP LIMITADA FICFIDC 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950207" y="2112264"/>
            <a:ext cx="1645920" cy="292608"/>
          </a:xfrm>
          <a:prstGeom prst="rect">
            <a:avLst/>
          </a:prstGeom>
          <a:solidFill>
            <a:srgbClr val="F5F5F2"/>
          </a:solidFill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222222"/>
                </a:solidFill>
              </a:rPr>
              <a:t>Crédito Estruturado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14415" y="2112264"/>
            <a:ext cx="822960" cy="292608"/>
          </a:xfrm>
          <a:prstGeom prst="rect">
            <a:avLst/>
          </a:prstGeom>
          <a:solidFill>
            <a:srgbClr val="F5F5F2"/>
          </a:solidFill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222222"/>
                </a:solidFill>
              </a:rPr>
              <a:t>8.0%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55663" y="2112264"/>
            <a:ext cx="1188720" cy="292608"/>
          </a:xfrm>
          <a:prstGeom prst="rect">
            <a:avLst/>
          </a:prstGeom>
          <a:solidFill>
            <a:srgbClr val="F5F5F2"/>
          </a:solidFill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222222"/>
                </a:solidFill>
              </a:rPr>
              <a:t>R$ 800.000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62671" y="2112264"/>
            <a:ext cx="731520" cy="292608"/>
          </a:xfrm>
          <a:prstGeom prst="rect">
            <a:avLst/>
          </a:prstGeom>
          <a:solidFill>
            <a:srgbClr val="F5F5F2"/>
          </a:solidFill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222222"/>
                </a:solidFill>
              </a:rPr>
              <a:t>8.5%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12480" y="2112264"/>
            <a:ext cx="777240" cy="292608"/>
          </a:xfrm>
          <a:prstGeom prst="rect">
            <a:avLst/>
          </a:prstGeom>
          <a:solidFill>
            <a:srgbClr val="F5F5F2"/>
          </a:solidFill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222222"/>
                </a:solidFill>
              </a:rPr>
              <a:t>18.3%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08007" y="2112264"/>
            <a:ext cx="777240" cy="292608"/>
          </a:xfrm>
          <a:prstGeom prst="rect">
            <a:avLst/>
          </a:prstGeom>
          <a:solidFill>
            <a:srgbClr val="F5F5F2"/>
          </a:solidFill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222222"/>
                </a:solidFill>
              </a:rPr>
              <a:t>36.8%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003535" y="2112264"/>
            <a:ext cx="731520" cy="292608"/>
          </a:xfrm>
          <a:prstGeom prst="rect">
            <a:avLst/>
          </a:prstGeom>
          <a:solidFill>
            <a:srgbClr val="F5F5F2"/>
          </a:solidFill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222222"/>
                </a:solidFill>
              </a:rPr>
              <a:t>8.4%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753343" y="2112264"/>
            <a:ext cx="777240" cy="292608"/>
          </a:xfrm>
          <a:prstGeom prst="rect">
            <a:avLst/>
          </a:prstGeom>
          <a:solidFill>
            <a:srgbClr val="F5F5F2"/>
          </a:solidFill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222222"/>
                </a:solidFill>
              </a:rPr>
              <a:t>0.1%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74320" y="2414016"/>
            <a:ext cx="3657600" cy="292608"/>
          </a:xfrm>
          <a:prstGeom prst="rect">
            <a:avLst/>
          </a:prstGeom>
          <a:solidFill>
            <a:srgbClr val="F5F5F2"/>
          </a:solidFill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222222"/>
                </a:solidFill>
              </a:rPr>
              <a:t>M BRZ RESP LIMITADA FICFIDC 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950207" y="2414016"/>
            <a:ext cx="1645920" cy="292608"/>
          </a:xfrm>
          <a:prstGeom prst="rect">
            <a:avLst/>
          </a:prstGeom>
          <a:solidFill>
            <a:srgbClr val="F5F5F2"/>
          </a:solidFill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222222"/>
                </a:solidFill>
              </a:rPr>
              <a:t>Crédito Estruturado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14415" y="2414016"/>
            <a:ext cx="822960" cy="292608"/>
          </a:xfrm>
          <a:prstGeom prst="rect">
            <a:avLst/>
          </a:prstGeom>
          <a:solidFill>
            <a:srgbClr val="F5F5F2"/>
          </a:solidFill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222222"/>
                </a:solidFill>
              </a:rPr>
              <a:t>4.0%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55663" y="2414016"/>
            <a:ext cx="1188720" cy="292608"/>
          </a:xfrm>
          <a:prstGeom prst="rect">
            <a:avLst/>
          </a:prstGeom>
          <a:solidFill>
            <a:srgbClr val="F5F5F2"/>
          </a:solidFill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222222"/>
                </a:solidFill>
              </a:rPr>
              <a:t>R$ 400.000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62671" y="2414016"/>
            <a:ext cx="731520" cy="292608"/>
          </a:xfrm>
          <a:prstGeom prst="rect">
            <a:avLst/>
          </a:prstGeom>
          <a:solidFill>
            <a:srgbClr val="F5F5F2"/>
          </a:solidFill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222222"/>
                </a:solidFill>
              </a:rPr>
              <a:t>8.8%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12480" y="2414016"/>
            <a:ext cx="777240" cy="292608"/>
          </a:xfrm>
          <a:prstGeom prst="rect">
            <a:avLst/>
          </a:prstGeom>
          <a:solidFill>
            <a:srgbClr val="F5F5F2"/>
          </a:solidFill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222222"/>
                </a:solidFill>
              </a:rPr>
              <a:t>18.7%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208007" y="2414016"/>
            <a:ext cx="777240" cy="292608"/>
          </a:xfrm>
          <a:prstGeom prst="rect">
            <a:avLst/>
          </a:prstGeom>
          <a:solidFill>
            <a:srgbClr val="F5F5F2"/>
          </a:solidFill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222222"/>
                </a:solidFill>
              </a:rPr>
              <a:t>—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003535" y="2414016"/>
            <a:ext cx="731520" cy="292608"/>
          </a:xfrm>
          <a:prstGeom prst="rect">
            <a:avLst/>
          </a:prstGeom>
          <a:solidFill>
            <a:srgbClr val="F5F5F2"/>
          </a:solidFill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222222"/>
                </a:solidFill>
              </a:rPr>
              <a:t>8.6%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753343" y="2414016"/>
            <a:ext cx="777240" cy="292608"/>
          </a:xfrm>
          <a:prstGeom prst="rect">
            <a:avLst/>
          </a:prstGeom>
          <a:solidFill>
            <a:srgbClr val="F5F5F2"/>
          </a:solidFill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222222"/>
                </a:solidFill>
              </a:rPr>
              <a:t>0.2%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74320" y="2715768"/>
            <a:ext cx="3657600" cy="292608"/>
          </a:xfrm>
          <a:prstGeom prst="rect">
            <a:avLst/>
          </a:prstGeom>
          <a:solidFill>
            <a:srgbClr val="F5F5F2"/>
          </a:solidFill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222222"/>
                </a:solidFill>
              </a:rPr>
              <a:t>M8 CREDIT OPPORTUNITIES FICFIDC 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950207" y="2715768"/>
            <a:ext cx="1645920" cy="292608"/>
          </a:xfrm>
          <a:prstGeom prst="rect">
            <a:avLst/>
          </a:prstGeom>
          <a:solidFill>
            <a:srgbClr val="F5F5F2"/>
          </a:solidFill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222222"/>
                </a:solidFill>
              </a:rPr>
              <a:t>Crédito Estruturado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614415" y="2715768"/>
            <a:ext cx="822960" cy="292608"/>
          </a:xfrm>
          <a:prstGeom prst="rect">
            <a:avLst/>
          </a:prstGeom>
          <a:solidFill>
            <a:srgbClr val="F5F5F2"/>
          </a:solidFill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222222"/>
                </a:solidFill>
              </a:rPr>
              <a:t>3.0%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55663" y="2715768"/>
            <a:ext cx="1188720" cy="292608"/>
          </a:xfrm>
          <a:prstGeom prst="rect">
            <a:avLst/>
          </a:prstGeom>
          <a:solidFill>
            <a:srgbClr val="F5F5F2"/>
          </a:solidFill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222222"/>
                </a:solidFill>
              </a:rPr>
              <a:t>R$ 300.000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662671" y="2715768"/>
            <a:ext cx="731520" cy="292608"/>
          </a:xfrm>
          <a:prstGeom prst="rect">
            <a:avLst/>
          </a:prstGeom>
          <a:solidFill>
            <a:srgbClr val="F5F5F2"/>
          </a:solidFill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222222"/>
                </a:solidFill>
              </a:rPr>
              <a:t>8.0%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412480" y="2715768"/>
            <a:ext cx="777240" cy="292608"/>
          </a:xfrm>
          <a:prstGeom prst="rect">
            <a:avLst/>
          </a:prstGeom>
          <a:solidFill>
            <a:srgbClr val="F5F5F2"/>
          </a:solidFill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222222"/>
                </a:solidFill>
              </a:rPr>
              <a:t>17.3%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208007" y="2715768"/>
            <a:ext cx="777240" cy="292608"/>
          </a:xfrm>
          <a:prstGeom prst="rect">
            <a:avLst/>
          </a:prstGeom>
          <a:solidFill>
            <a:srgbClr val="F5F5F2"/>
          </a:solidFill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222222"/>
                </a:solidFill>
              </a:rPr>
              <a:t>34.7%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003535" y="2715768"/>
            <a:ext cx="731520" cy="292608"/>
          </a:xfrm>
          <a:prstGeom prst="rect">
            <a:avLst/>
          </a:prstGeom>
          <a:solidFill>
            <a:srgbClr val="F5F5F2"/>
          </a:solidFill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222222"/>
                </a:solidFill>
              </a:rPr>
              <a:t>7.9%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753343" y="2715768"/>
            <a:ext cx="777240" cy="292608"/>
          </a:xfrm>
          <a:prstGeom prst="rect">
            <a:avLst/>
          </a:prstGeom>
          <a:solidFill>
            <a:srgbClr val="F5F5F2"/>
          </a:solidFill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222222"/>
                </a:solidFill>
              </a:rPr>
              <a:t>0.0%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74320" y="3017520"/>
            <a:ext cx="3657600" cy="292608"/>
          </a:xfrm>
          <a:prstGeom prst="rect">
            <a:avLst/>
          </a:prstGeom>
          <a:solidFill>
            <a:srgbClr val="FFFFFF"/>
          </a:solidFill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222222"/>
                </a:solidFill>
              </a:rPr>
              <a:t>SPARTA DEBÊNTURES INCENTIVADAS INFLAÇÃO RESP LIMITAD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950207" y="3017520"/>
            <a:ext cx="1645920" cy="292608"/>
          </a:xfrm>
          <a:prstGeom prst="rect">
            <a:avLst/>
          </a:prstGeom>
          <a:solidFill>
            <a:srgbClr val="FFFFFF"/>
          </a:solidFill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222222"/>
                </a:solidFill>
              </a:rPr>
              <a:t>Renda Fixa Inflação/Pré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614415" y="3017520"/>
            <a:ext cx="822960" cy="292608"/>
          </a:xfrm>
          <a:prstGeom prst="rect">
            <a:avLst/>
          </a:prstGeom>
          <a:solidFill>
            <a:srgbClr val="FFFFFF"/>
          </a:solidFill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222222"/>
                </a:solidFill>
              </a:rPr>
              <a:t>17.5%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55663" y="3017520"/>
            <a:ext cx="1188720" cy="292608"/>
          </a:xfrm>
          <a:prstGeom prst="rect">
            <a:avLst/>
          </a:prstGeom>
          <a:solidFill>
            <a:srgbClr val="FFFFFF"/>
          </a:solidFill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222222"/>
                </a:solidFill>
              </a:rPr>
              <a:t>R$ 1.750.000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662671" y="3017520"/>
            <a:ext cx="731520" cy="292608"/>
          </a:xfrm>
          <a:prstGeom prst="rect">
            <a:avLst/>
          </a:prstGeom>
          <a:solidFill>
            <a:srgbClr val="FFFFFF"/>
          </a:solidFill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222222"/>
                </a:solidFill>
              </a:rPr>
              <a:t>3.9%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412480" y="3017520"/>
            <a:ext cx="777240" cy="292608"/>
          </a:xfrm>
          <a:prstGeom prst="rect">
            <a:avLst/>
          </a:prstGeom>
          <a:solidFill>
            <a:srgbClr val="FFFFFF"/>
          </a:solidFill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222222"/>
                </a:solidFill>
              </a:rPr>
              <a:t>9.2%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208007" y="3017520"/>
            <a:ext cx="777240" cy="292608"/>
          </a:xfrm>
          <a:prstGeom prst="rect">
            <a:avLst/>
          </a:prstGeom>
          <a:solidFill>
            <a:srgbClr val="FFFFFF"/>
          </a:solidFill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222222"/>
                </a:solidFill>
              </a:rPr>
              <a:t>20.9%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003535" y="3017520"/>
            <a:ext cx="731520" cy="292608"/>
          </a:xfrm>
          <a:prstGeom prst="rect">
            <a:avLst/>
          </a:prstGeom>
          <a:solidFill>
            <a:srgbClr val="FFFFFF"/>
          </a:solidFill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222222"/>
                </a:solidFill>
              </a:rPr>
              <a:t>3.8%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753343" y="3017520"/>
            <a:ext cx="777240" cy="292608"/>
          </a:xfrm>
          <a:prstGeom prst="rect">
            <a:avLst/>
          </a:prstGeom>
          <a:solidFill>
            <a:srgbClr val="FFFFFF"/>
          </a:solidFill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222222"/>
                </a:solidFill>
              </a:rPr>
              <a:t>3.1%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74320" y="3319272"/>
            <a:ext cx="3657600" cy="292608"/>
          </a:xfrm>
          <a:prstGeom prst="rect">
            <a:avLst/>
          </a:prstGeom>
          <a:solidFill>
            <a:srgbClr val="F5F5F2"/>
          </a:solidFill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222222"/>
                </a:solidFill>
              </a:rPr>
              <a:t>M MACRO FIF CIC MULTIMERCADO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950207" y="3319272"/>
            <a:ext cx="1645920" cy="292608"/>
          </a:xfrm>
          <a:prstGeom prst="rect">
            <a:avLst/>
          </a:prstGeom>
          <a:solidFill>
            <a:srgbClr val="F5F5F2"/>
          </a:solidFill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222222"/>
                </a:solidFill>
              </a:rPr>
              <a:t>Multimercado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614415" y="3319272"/>
            <a:ext cx="822960" cy="292608"/>
          </a:xfrm>
          <a:prstGeom prst="rect">
            <a:avLst/>
          </a:prstGeom>
          <a:solidFill>
            <a:srgbClr val="F5F5F2"/>
          </a:solidFill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222222"/>
                </a:solidFill>
              </a:rPr>
              <a:t>17.5%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455663" y="3319272"/>
            <a:ext cx="1188720" cy="292608"/>
          </a:xfrm>
          <a:prstGeom prst="rect">
            <a:avLst/>
          </a:prstGeom>
          <a:solidFill>
            <a:srgbClr val="F5F5F2"/>
          </a:solidFill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222222"/>
                </a:solidFill>
              </a:rPr>
              <a:t>R$ 1.750.000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662671" y="3319272"/>
            <a:ext cx="731520" cy="292608"/>
          </a:xfrm>
          <a:prstGeom prst="rect">
            <a:avLst/>
          </a:prstGeom>
          <a:solidFill>
            <a:srgbClr val="F5F5F2"/>
          </a:solidFill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222222"/>
                </a:solidFill>
              </a:rPr>
              <a:t>0.4%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412480" y="3319272"/>
            <a:ext cx="777240" cy="292608"/>
          </a:xfrm>
          <a:prstGeom prst="rect">
            <a:avLst/>
          </a:prstGeom>
          <a:solidFill>
            <a:srgbClr val="F5F5F2"/>
          </a:solidFill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222222"/>
                </a:solidFill>
              </a:rPr>
              <a:t>6.3%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208007" y="3319272"/>
            <a:ext cx="777240" cy="292608"/>
          </a:xfrm>
          <a:prstGeom prst="rect">
            <a:avLst/>
          </a:prstGeom>
          <a:solidFill>
            <a:srgbClr val="F5F5F2"/>
          </a:solidFill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222222"/>
                </a:solidFill>
              </a:rPr>
              <a:t>21.1%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003535" y="3319272"/>
            <a:ext cx="731520" cy="292608"/>
          </a:xfrm>
          <a:prstGeom prst="rect">
            <a:avLst/>
          </a:prstGeom>
          <a:solidFill>
            <a:srgbClr val="F5F5F2"/>
          </a:solidFill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222222"/>
                </a:solidFill>
              </a:rPr>
              <a:t>0.2%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753343" y="3319272"/>
            <a:ext cx="777240" cy="292608"/>
          </a:xfrm>
          <a:prstGeom prst="rect">
            <a:avLst/>
          </a:prstGeom>
          <a:solidFill>
            <a:srgbClr val="F5F5F2"/>
          </a:solidFill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222222"/>
                </a:solidFill>
              </a:rPr>
              <a:t>5.6%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74320" y="3621024"/>
            <a:ext cx="3657600" cy="292608"/>
          </a:xfrm>
          <a:prstGeom prst="rect">
            <a:avLst/>
          </a:prstGeom>
          <a:solidFill>
            <a:srgbClr val="F5F5F2"/>
          </a:solidFill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222222"/>
                </a:solidFill>
              </a:rPr>
              <a:t>GAMA PEARL DIVER GLOBAL FLOATING INCOME BRL INVESTIM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950207" y="3621024"/>
            <a:ext cx="1645920" cy="292608"/>
          </a:xfrm>
          <a:prstGeom prst="rect">
            <a:avLst/>
          </a:prstGeom>
          <a:solidFill>
            <a:srgbClr val="F5F5F2"/>
          </a:solidFill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222222"/>
                </a:solidFill>
              </a:rPr>
              <a:t>Offshore BRL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614415" y="3621024"/>
            <a:ext cx="822960" cy="292608"/>
          </a:xfrm>
          <a:prstGeom prst="rect">
            <a:avLst/>
          </a:prstGeom>
          <a:solidFill>
            <a:srgbClr val="F5F5F2"/>
          </a:solidFill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222222"/>
                </a:solidFill>
              </a:rPr>
              <a:t>2.5%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455663" y="3621024"/>
            <a:ext cx="1188720" cy="292608"/>
          </a:xfrm>
          <a:prstGeom prst="rect">
            <a:avLst/>
          </a:prstGeom>
          <a:solidFill>
            <a:srgbClr val="F5F5F2"/>
          </a:solidFill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222222"/>
                </a:solidFill>
              </a:rPr>
              <a:t>R$ 250.000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662671" y="3621024"/>
            <a:ext cx="731520" cy="292608"/>
          </a:xfrm>
          <a:prstGeom prst="rect">
            <a:avLst/>
          </a:prstGeom>
          <a:solidFill>
            <a:srgbClr val="F5F5F2"/>
          </a:solidFill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222222"/>
                </a:solidFill>
              </a:rPr>
              <a:t>5.8%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412480" y="3621024"/>
            <a:ext cx="777240" cy="292608"/>
          </a:xfrm>
          <a:prstGeom prst="rect">
            <a:avLst/>
          </a:prstGeom>
          <a:solidFill>
            <a:srgbClr val="F5F5F2"/>
          </a:solidFill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222222"/>
                </a:solidFill>
              </a:rPr>
              <a:t>13.8%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208007" y="3621024"/>
            <a:ext cx="777240" cy="292608"/>
          </a:xfrm>
          <a:prstGeom prst="rect">
            <a:avLst/>
          </a:prstGeom>
          <a:solidFill>
            <a:srgbClr val="F5F5F2"/>
          </a:solidFill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222222"/>
                </a:solidFill>
              </a:rPr>
              <a:t>28.4%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003535" y="3621024"/>
            <a:ext cx="731520" cy="292608"/>
          </a:xfrm>
          <a:prstGeom prst="rect">
            <a:avLst/>
          </a:prstGeom>
          <a:solidFill>
            <a:srgbClr val="F5F5F2"/>
          </a:solidFill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222222"/>
                </a:solidFill>
              </a:rPr>
              <a:t>5.1%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0753343" y="3621024"/>
            <a:ext cx="777240" cy="292608"/>
          </a:xfrm>
          <a:prstGeom prst="rect">
            <a:avLst/>
          </a:prstGeom>
          <a:solidFill>
            <a:srgbClr val="F5F5F2"/>
          </a:solidFill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222222"/>
                </a:solidFill>
              </a:rPr>
              <a:t>3.4%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74320" y="3922776"/>
            <a:ext cx="3657600" cy="292608"/>
          </a:xfrm>
          <a:prstGeom prst="rect">
            <a:avLst/>
          </a:prstGeom>
          <a:solidFill>
            <a:srgbClr val="F5F5F2"/>
          </a:solidFill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222222"/>
                </a:solidFill>
              </a:rPr>
              <a:t>GAMA SCHRODER GAIA CONTOUR TECH EQUITY LONG &amp; SHORT 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950207" y="3922776"/>
            <a:ext cx="1645920" cy="292608"/>
          </a:xfrm>
          <a:prstGeom prst="rect">
            <a:avLst/>
          </a:prstGeom>
          <a:solidFill>
            <a:srgbClr val="F5F5F2"/>
          </a:solidFill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222222"/>
                </a:solidFill>
              </a:rPr>
              <a:t>Offshore BRL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614415" y="3922776"/>
            <a:ext cx="822960" cy="292608"/>
          </a:xfrm>
          <a:prstGeom prst="rect">
            <a:avLst/>
          </a:prstGeom>
          <a:solidFill>
            <a:srgbClr val="F5F5F2"/>
          </a:solidFill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222222"/>
                </a:solidFill>
              </a:rPr>
              <a:t>2.5%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455663" y="3922776"/>
            <a:ext cx="1188720" cy="292608"/>
          </a:xfrm>
          <a:prstGeom prst="rect">
            <a:avLst/>
          </a:prstGeom>
          <a:solidFill>
            <a:srgbClr val="F5F5F2"/>
          </a:solidFill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222222"/>
                </a:solidFill>
              </a:rPr>
              <a:t>R$ 250.000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662671" y="3922776"/>
            <a:ext cx="731520" cy="292608"/>
          </a:xfrm>
          <a:prstGeom prst="rect">
            <a:avLst/>
          </a:prstGeom>
          <a:solidFill>
            <a:srgbClr val="F5F5F2"/>
          </a:solidFill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222222"/>
                </a:solidFill>
              </a:rPr>
              <a:t>17.5%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412480" y="3922776"/>
            <a:ext cx="777240" cy="292608"/>
          </a:xfrm>
          <a:prstGeom prst="rect">
            <a:avLst/>
          </a:prstGeom>
          <a:solidFill>
            <a:srgbClr val="F5F5F2"/>
          </a:solidFill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222222"/>
                </a:solidFill>
              </a:rPr>
              <a:t>39.9%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9208007" y="3922776"/>
            <a:ext cx="777240" cy="292608"/>
          </a:xfrm>
          <a:prstGeom prst="rect">
            <a:avLst/>
          </a:prstGeom>
          <a:solidFill>
            <a:srgbClr val="F5F5F2"/>
          </a:solidFill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222222"/>
                </a:solidFill>
              </a:rPr>
              <a:t>81.5%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0003535" y="3922776"/>
            <a:ext cx="731520" cy="292608"/>
          </a:xfrm>
          <a:prstGeom prst="rect">
            <a:avLst/>
          </a:prstGeom>
          <a:solidFill>
            <a:srgbClr val="F5F5F2"/>
          </a:solidFill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222222"/>
                </a:solidFill>
              </a:rPr>
              <a:t>17.0%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0753343" y="3922776"/>
            <a:ext cx="777240" cy="292608"/>
          </a:xfrm>
          <a:prstGeom prst="rect">
            <a:avLst/>
          </a:prstGeom>
          <a:solidFill>
            <a:srgbClr val="F5F5F2"/>
          </a:solidFill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222222"/>
                </a:solidFill>
              </a:rPr>
              <a:t>13.2%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274320" y="4224528"/>
            <a:ext cx="3657600" cy="292608"/>
          </a:xfrm>
          <a:prstGeom prst="rect">
            <a:avLst/>
          </a:prstGeom>
          <a:solidFill>
            <a:srgbClr val="FFFFFF"/>
          </a:solidFill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222222"/>
                </a:solidFill>
              </a:rPr>
              <a:t>NEST IBOVESPA ENHANCED RESP LIMITADA FIF AÇÕES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3950207" y="4224528"/>
            <a:ext cx="1645920" cy="292608"/>
          </a:xfrm>
          <a:prstGeom prst="rect">
            <a:avLst/>
          </a:prstGeom>
          <a:solidFill>
            <a:srgbClr val="FFFFFF"/>
          </a:solidFill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222222"/>
                </a:solidFill>
              </a:rPr>
              <a:t>Renda Variável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5614415" y="4224528"/>
            <a:ext cx="822960" cy="292608"/>
          </a:xfrm>
          <a:prstGeom prst="rect">
            <a:avLst/>
          </a:prstGeom>
          <a:solidFill>
            <a:srgbClr val="FFFFFF"/>
          </a:solidFill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222222"/>
                </a:solidFill>
              </a:rPr>
              <a:t>15.0%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455663" y="4224528"/>
            <a:ext cx="1188720" cy="292608"/>
          </a:xfrm>
          <a:prstGeom prst="rect">
            <a:avLst/>
          </a:prstGeom>
          <a:solidFill>
            <a:srgbClr val="FFFFFF"/>
          </a:solidFill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222222"/>
                </a:solidFill>
              </a:rPr>
              <a:t>R$ 1.500.000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662671" y="4224528"/>
            <a:ext cx="731520" cy="292608"/>
          </a:xfrm>
          <a:prstGeom prst="rect">
            <a:avLst/>
          </a:prstGeom>
          <a:solidFill>
            <a:srgbClr val="FFFFFF"/>
          </a:solidFill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222222"/>
                </a:solidFill>
              </a:rPr>
              <a:t>9.3%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412480" y="4224528"/>
            <a:ext cx="777240" cy="292608"/>
          </a:xfrm>
          <a:prstGeom prst="rect">
            <a:avLst/>
          </a:prstGeom>
          <a:solidFill>
            <a:srgbClr val="FFFFFF"/>
          </a:solidFill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222222"/>
                </a:solidFill>
              </a:rPr>
              <a:t>27.0%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9208007" y="4224528"/>
            <a:ext cx="777240" cy="292608"/>
          </a:xfrm>
          <a:prstGeom prst="rect">
            <a:avLst/>
          </a:prstGeom>
          <a:solidFill>
            <a:srgbClr val="FFFFFF"/>
          </a:solidFill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222222"/>
                </a:solidFill>
              </a:rPr>
              <a:t>44.5%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0003535" y="4224528"/>
            <a:ext cx="731520" cy="292608"/>
          </a:xfrm>
          <a:prstGeom prst="rect">
            <a:avLst/>
          </a:prstGeom>
          <a:solidFill>
            <a:srgbClr val="FFFFFF"/>
          </a:solidFill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222222"/>
                </a:solidFill>
              </a:rPr>
              <a:t>9.0%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753343" y="4224528"/>
            <a:ext cx="777240" cy="292608"/>
          </a:xfrm>
          <a:prstGeom prst="rect">
            <a:avLst/>
          </a:prstGeom>
          <a:solidFill>
            <a:srgbClr val="FFFFFF"/>
          </a:solidFill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222222"/>
                </a:solidFill>
              </a:rPr>
              <a:t>17.1%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274320" y="4526280"/>
            <a:ext cx="3657600" cy="292608"/>
          </a:xfrm>
          <a:prstGeom prst="rect">
            <a:avLst/>
          </a:prstGeom>
          <a:solidFill>
            <a:srgbClr val="F5F5F2"/>
          </a:solidFill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222222"/>
                </a:solidFill>
              </a:rPr>
              <a:t>CAPITÂNIA REIT MASTER RESP LIMITADA FIF CIC MULTIMER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3950207" y="4526280"/>
            <a:ext cx="1645920" cy="292608"/>
          </a:xfrm>
          <a:prstGeom prst="rect">
            <a:avLst/>
          </a:prstGeom>
          <a:solidFill>
            <a:srgbClr val="F5F5F2"/>
          </a:solidFill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222222"/>
                </a:solidFill>
              </a:rPr>
              <a:t>Imobiliários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5614415" y="4526280"/>
            <a:ext cx="822960" cy="292608"/>
          </a:xfrm>
          <a:prstGeom prst="rect">
            <a:avLst/>
          </a:prstGeom>
          <a:solidFill>
            <a:srgbClr val="F5F5F2"/>
          </a:solidFill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222222"/>
                </a:solidFill>
              </a:rPr>
              <a:t>2.5%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6455663" y="4526280"/>
            <a:ext cx="1188720" cy="292608"/>
          </a:xfrm>
          <a:prstGeom prst="rect">
            <a:avLst/>
          </a:prstGeom>
          <a:solidFill>
            <a:srgbClr val="F5F5F2"/>
          </a:solidFill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222222"/>
                </a:solidFill>
              </a:rPr>
              <a:t>R$ 250.000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7662671" y="4526280"/>
            <a:ext cx="731520" cy="292608"/>
          </a:xfrm>
          <a:prstGeom prst="rect">
            <a:avLst/>
          </a:prstGeom>
          <a:solidFill>
            <a:srgbClr val="F5F5F2"/>
          </a:solidFill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222222"/>
                </a:solidFill>
              </a:rPr>
              <a:t>-0.3%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412480" y="4526280"/>
            <a:ext cx="777240" cy="292608"/>
          </a:xfrm>
          <a:prstGeom prst="rect">
            <a:avLst/>
          </a:prstGeom>
          <a:solidFill>
            <a:srgbClr val="F5F5F2"/>
          </a:solidFill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222222"/>
                </a:solidFill>
              </a:rPr>
              <a:t>8.1%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9208007" y="4526280"/>
            <a:ext cx="777240" cy="292608"/>
          </a:xfrm>
          <a:prstGeom prst="rect">
            <a:avLst/>
          </a:prstGeom>
          <a:solidFill>
            <a:srgbClr val="F5F5F2"/>
          </a:solidFill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222222"/>
                </a:solidFill>
              </a:rPr>
              <a:t>12.4%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0003535" y="4526280"/>
            <a:ext cx="731520" cy="292608"/>
          </a:xfrm>
          <a:prstGeom prst="rect">
            <a:avLst/>
          </a:prstGeom>
          <a:solidFill>
            <a:srgbClr val="F5F5F2"/>
          </a:solidFill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222222"/>
                </a:solidFill>
              </a:rPr>
              <a:t>-0.1%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0753343" y="4526280"/>
            <a:ext cx="777240" cy="292608"/>
          </a:xfrm>
          <a:prstGeom prst="rect">
            <a:avLst/>
          </a:prstGeom>
          <a:solidFill>
            <a:srgbClr val="F5F5F2"/>
          </a:solidFill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222222"/>
                </a:solidFill>
              </a:rPr>
              <a:t>4.8%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